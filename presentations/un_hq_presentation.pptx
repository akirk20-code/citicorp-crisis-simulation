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UN Headquarters Area</a:t>
            </a:r>
            <a:br/>
            <a:r>
              <a:t>CityGML Hybrid Mesh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CCDD"/>
                </a:solidFill>
              </a:defRPr>
            </a:pPr>
            <a:r>
              <a:t>CityGML LoD2 (primary) + Socrata API (fallback)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</a:defRPr>
            </a:pPr>
            <a:r>
              <a:t>Center for Computational Fluid Dynamics</a:t>
            </a:r>
            <a:br/>
            <a:r>
              <a:t>George Mason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A5C"/>
                </a:solidFill>
              </a:defRPr>
            </a:pPr>
            <a:r>
              <a:t>Extraction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</a:defRPr>
            </a:pPr>
            <a:r>
              <a:t>Location &amp; Domain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Center: 40.7489° N, 73.9680° W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(UN Secretariat Building centroid)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Domain radius: 300 m (600 m × 600 m square)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EPSG:2263 (NY State Plane): X=[991798, 993767], Y=[211358, 213327]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Ground elevation: 5.51 ft MSL (1.7 m)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Tallest building: 169 m (BIN 1090642, built 2018)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UN Secretariat: 156 m (BIN 1083875)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One UN Plaza: 154 m (BIN 1038758)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640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</a:defRPr>
            </a:pPr>
            <a: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96012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CityGML (primary): 123 buildings (93%)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Socrata fallback: 8 buildings (6%)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Total: 131 buildings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Total triangles: 23,575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Surface breakdown: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GroundSurface: 125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RoofSurface: 1,048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WallSurface: 6,211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Bounding box: 732 m × 731 m × 170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47472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</a:defRPr>
            </a:pPr>
            <a:r>
              <a:t>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File: un_hq_surroundings.stl (binary STL, 23,575 triangles)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Coordinate system: local meters centered at UN Secretariat, Z=0 at ground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Solver-agnostic: compatible with FEFLO, OpenFOAM, Fluent, or any STL-reading CFD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A5C"/>
                </a:solidFill>
              </a:defRPr>
            </a:pPr>
            <a:r>
              <a:t>Methodology: Hybrid CityGML + Socrata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8412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STEP 1: CITYGML EXTRACTION (primary source — 2014 aerial photogrammetry)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1a. Convert domain corners from WGS84 to EPSG:2263 (NY State Plane feet)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1b. Identify overlapping DA district files (DA12 covers Midtown + Turtle Bay)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1c. Stream through GML files line-by-line (764 MB for DA12, no full-file load)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1d. For each &lt;bldg:Building&gt;: check if any coordinate falls in domain bbox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1e. Parse WallSurface, RoofSurface, GroundSurface → fan triangulate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1f. Convert EPSG:2263 feet → local meters (centered at target building)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1g. Auto-detect ground elevation from GroundSurface Z values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STEP 2: SOCRATA API FALLBACK (for post-2014 construction)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2a. Query NYC Building Footprints API (GeoJSON) within domain bbox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2b. Deduplicate: skip if BIN matches CityGML set (71 caught)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2c. Deduplicate: skip if centroid within 15m of any CityGML centroid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2d. Extrude remaining footprint polygons to height_roof (LoD1, flat-topped)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2e. Result: 8 genuinely new buildings added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STEP 3: OUTPUT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3a. Merge all triangles → un_hq_surroundings.stl (binary STL)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3b. Print provenance report with building counts + triangle counts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A5C"/>
                </a:solidFill>
              </a:defRPr>
            </a:pPr>
            <a:r>
              <a:t>Data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</a:defRPr>
            </a:pPr>
            <a:r>
              <a:t>NYC 3D Building Model (CityGML)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37490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2014 aerial photogrammetry survey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~1 million buildings across 5 boroughs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LoD2: actual wall, roof, ground surfaces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12 DA district files (~6 GB total)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EPSG:2263 coordinate system (US Survey Feet)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Source: georocket/new-york-city-model-enhanced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GitHub release: 20v5 (enhanced version)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6400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</a:defRPr>
            </a:pPr>
            <a:r>
              <a:t>Socrata Building Footprints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960120"/>
            <a:ext cx="37490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Continuously updated (includes 2015+ construction)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2D footprint polygon + height_roof attribute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BIN (Building Identification Number) for matching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GeoJSON format, WGS84 coordinates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Extruded to flat-topped LoD1 boxes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API endpoint: data.cityofnewyork.us/resource/5zhs-2jue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20040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</a:defRPr>
            </a:pPr>
            <a:r>
              <a:t>Deduplication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Step 1: BIN matching — if Socrata BIN exists in CityGML set, skip (caught 71)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Step 2: Spatial proximity — if Socrata centroid within 15m of CityGML centroid, skip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Step 3: Remainder kept as fallback — genuinely new post-2014 buildings (8 added)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A5C"/>
                </a:solidFill>
              </a:defRPr>
            </a:pPr>
            <a:r>
              <a:t>How to Reproduce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8412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PREREQUISITES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Python 3.8+, requests library (pip install requests)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CityGML data: _citygml/DA12.gml.zip (52 MB, auto-downloaded from GitHub)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GENERATE STL (single command):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python generate_stl_hybrid.py \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    --center-lat 40.7489 --center-lon -73.9680 \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    --name un_hq --radius 300 --no-target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Output: constant/triSurface/un_hq_surroundings.stl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Runtime: ~2 minutes (DA12 scan: 20s, Socrata API: 2s)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OPTIONAL FLAGS: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--offline          Skip Socrata API (CityGML only)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--year 1978        Historical filter (buildings built by year)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--ascii            Also write ASCII STL for inspection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--data-dir PATH    Custom CityGML data directory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--output-dir PATH  Custom STL output directory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VISUALIZE: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pvpython _paraview_un_hq.py   (generates 5 PNG views)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Open building_browser.html → click 'UN Headquarters' preset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A5C"/>
                </a:solidFill>
              </a:defRPr>
            </a:pPr>
            <a:r>
              <a:t>Pipeline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STREAMING PARSER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Line-by-line scan of GML files (764 MB+)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O(1) memory: only current building in RAM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Bounding box check on first coordinate → skip early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Pattern: &lt;bldg:Building&gt; ... &lt;/bldg:Building&gt;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COORDINATE TRANSFORMS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CityGML: EPSG:2263 (US Survey Feet)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  → subtract center → multiply by 1200/3937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Socrata: WGS84 (degrees)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  → same scale factors for alignment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Ground: auto-detected from GroundSurface Z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TRIANGULATION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CityGML polygons: fan triangulation from v0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Socrata footprints: ear-clipping + extrusion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64008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LOCATION-AGNOSTIC DESIGN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--center-lat/--center-lon for any NYC building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--radius for domain size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--no-target for surroundings-only mode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--exclude-bins to remove target building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DA DISTRICT AUTO-DETECTION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20 pre-computed EPSG:2263 envelopes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Domain → overlapping districts → scan only those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Auto-downloads missing districts from GitHub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OUTPUT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Binary STL (watertight, outward normals)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Compatible with any CFD solver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FEFLO, OpenFOAM, Fluent, Star-CCM+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Optional ASCII STL for inspection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A5C"/>
                </a:solidFill>
              </a:defRPr>
            </a:pPr>
            <a:r>
              <a:t>Notable Buildings in Domain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2103120" cy="274320"/>
          </a:xfrm>
          <a:prstGeom prst="rect">
            <a:avLst/>
          </a:prstGeom>
          <a:solidFill>
            <a:srgbClr val="1B3A5C"/>
          </a:solidFill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640080"/>
            <a:ext cx="2103120" cy="274320"/>
          </a:xfrm>
          <a:prstGeom prst="rect">
            <a:avLst/>
          </a:prstGeom>
          <a:solidFill>
            <a:srgbClr val="1B3A5C"/>
          </a:solidFill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Address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640080"/>
            <a:ext cx="731520" cy="274320"/>
          </a:xfrm>
          <a:prstGeom prst="rect">
            <a:avLst/>
          </a:prstGeom>
          <a:solidFill>
            <a:srgbClr val="1B3A5C"/>
          </a:solidFill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Height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640080"/>
            <a:ext cx="914400" cy="274320"/>
          </a:xfrm>
          <a:prstGeom prst="rect">
            <a:avLst/>
          </a:prstGeom>
          <a:solidFill>
            <a:srgbClr val="1B3A5C"/>
          </a:solidFill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60119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Turkish Consulate (2018)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960119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821 1 Avenue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960119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169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960119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E7D32"/>
                </a:solidFill>
              </a:defRPr>
            </a:pPr>
            <a:r>
              <a:t>Socrata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170431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50 UN Plaza (2016)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1170431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50 United Nations Plaza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170431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163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1170431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E7D32"/>
                </a:solidFill>
              </a:defRPr>
            </a:pPr>
            <a:r>
              <a:t>Socrata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1380743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UN Secretariat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1380743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752 1 Avenue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1380743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156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1380743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CityGML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1591055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One UN Plaza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1591055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787 1 Avenue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1591055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154 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1591055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CityGML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1801367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UN Dev. Program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1801367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323 E 44 Street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1801367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147 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1801367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CityGML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2011679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685 First Ave (2018)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2011679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685 First Avenue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2011679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140 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2011679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E7D32"/>
                </a:solidFill>
              </a:defRPr>
            </a:pPr>
            <a:r>
              <a:t>Socrata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2221991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US Mission to 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2221991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799 1 Avenue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2221991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117 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2221991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CityGML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2432303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Woodstock Tower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8880" y="2432303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312 E 42 Street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2432303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111 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2432303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CityGML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2642615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Nigerian Mission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68880" y="2642615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828 2 Avenue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40" y="2642615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94 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7840" y="2642615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CityGML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2852927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Windsor Tower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68880" y="2852927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1 Tudor City Place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2852927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89 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77840" y="2852927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CityGML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3063239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Ford Foundation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68880" y="3063239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320 E 43 Street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63440" y="3063239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47 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77840" y="3063239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CityGML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3456432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555555"/>
                </a:solidFill>
              </a:defRPr>
            </a:pPr>
            <a:r>
              <a:t>131 total buildings | 123 from CityGML LoD2 (actual surfaces) | 8 from Socrata (flat-topped)</a:t>
            </a:r>
          </a:p>
          <a:p>
            <a:pPr>
              <a:spcAft>
                <a:spcPts val="400"/>
              </a:spcAft>
              <a:defRPr sz="900">
                <a:solidFill>
                  <a:srgbClr val="555555"/>
                </a:solidFill>
              </a:defRPr>
            </a:pPr>
            <a:r>
              <a:t>CityGML buildings have roof shapes, wall setbacks from 2014 aerial photogrammetry</a:t>
            </a:r>
          </a:p>
          <a:p>
            <a:pPr>
              <a:spcAft>
                <a:spcPts val="400"/>
              </a:spcAft>
              <a:defRPr sz="900">
                <a:solidFill>
                  <a:srgbClr val="555555"/>
                </a:solidFill>
              </a:defRPr>
            </a:pPr>
            <a:r>
              <a:t>Socrata buildings are post-2014 construction extruded to flat tops (LoD1)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A5C"/>
                </a:solidFill>
              </a:defRPr>
            </a:pPr>
            <a:r>
              <a:t>UN HQ — Aerial View</a:t>
            </a:r>
          </a:p>
        </p:txBody>
      </p:sp>
      <p:pic>
        <p:nvPicPr>
          <p:cNvPr id="3" name="Picture 2" descr="un_hq_ae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5953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A5C"/>
                </a:solidFill>
              </a:defRPr>
            </a:pPr>
            <a:r>
              <a:t>UN HQ — 3/4 View</a:t>
            </a:r>
          </a:p>
        </p:txBody>
      </p:sp>
      <p:pic>
        <p:nvPicPr>
          <p:cNvPr id="3" name="Picture 2" descr="un_hq_qu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5953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A5C"/>
                </a:solidFill>
              </a:defRPr>
            </a:pPr>
            <a:r>
              <a:t>UN HQ — Street Level</a:t>
            </a:r>
          </a:p>
        </p:txBody>
      </p:sp>
      <p:pic>
        <p:nvPicPr>
          <p:cNvPr id="3" name="Picture 2" descr="un_hq_str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5953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A5C"/>
                </a:solidFill>
              </a:defRPr>
            </a:pPr>
            <a:r>
              <a:t>UN HQ — Plan View (Top Down)</a:t>
            </a:r>
          </a:p>
        </p:txBody>
      </p:sp>
      <p:pic>
        <p:nvPicPr>
          <p:cNvPr id="3" name="Picture 2" descr="un_hq_top_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5953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A5C"/>
                </a:solidFill>
              </a:defRPr>
            </a:pPr>
            <a:r>
              <a:t>UN HQ — East River Approach</a:t>
            </a:r>
          </a:p>
        </p:txBody>
      </p:sp>
      <p:pic>
        <p:nvPicPr>
          <p:cNvPr id="3" name="Picture 2" descr="un_hq_east_ri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5953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UN HQ Area — Ready for CFD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131 buildings extracted (CityGML LoD2 + Socrata fallback)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23,575 triangles with actual roof shapes and wall setbacks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Single command: python generate_stl_hybrid.py --center-lat 40.7489 ...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Pipeline works for any NYC location (Manhattan, Brooklyn, etc.)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Building browser (HTML) for visual QA against satellite imagery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