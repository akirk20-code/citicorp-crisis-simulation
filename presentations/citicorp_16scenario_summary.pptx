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Citicorp Center Wind Loading Crisis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CCFF"/>
                </a:solidFill>
                <a:latin typeface="Calibri"/>
              </a:defRPr>
            </a:pPr>
            <a:r>
              <a:t>OR 750: Reliability, Safety, and Risk  |  George Mason University  |  ASCE 7-22 / AISC 360-22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33CCFF"/>
                </a:solidFill>
                <a:latin typeface="Calibri"/>
              </a:defRPr>
            </a:pPr>
            <a:r>
              <a:t>Building Parameters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Height: 915 ft (59 stories)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Plan: 157 x 157 ft (square)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Stilts: 114 ft, columns at mid-face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Cantilever: 72 ft at each corner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Bracing: 6 tiers of chevron V (48 braces)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Transfer: 2-story W-pattern truss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TMD: 400 tons on floor 63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Period: 6.5 sec fundamental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FF4444"/>
                </a:solidFill>
                <a:latin typeface="Calibri"/>
              </a:defRPr>
            </a:pPr>
            <a:r>
              <a:t>The 1978 Crisis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Original design: CJP groove welds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Bethlehem Steel substituted A325 bolts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Bolts sized for perpendicular wind ONLY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LeMessurier: quartering never checked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Emergency repair during Hurricane Ella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Secret repair, 2" welded cover plates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33CCFF"/>
                </a:solidFill>
                <a:latin typeface="Calibri"/>
              </a:defRPr>
            </a:pPr>
            <a:r>
              <a:t>Simulation Modules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AAAA"/>
                </a:solidFill>
                <a:latin typeface="Calibri"/>
              </a:defRPr>
            </a:pPr>
            <a:r>
              <a:t>  1: 3D Visualization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AAAA"/>
                </a:solidFill>
                <a:latin typeface="Calibri"/>
              </a:defRPr>
            </a:pPr>
            <a:r>
              <a:t>  2: ASCE 7-22 Wind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AAAA"/>
                </a:solidFill>
                <a:latin typeface="Calibri"/>
              </a:defRPr>
            </a:pPr>
            <a:r>
              <a:t>  3: 3D FEA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AAAA"/>
                </a:solidFill>
                <a:latin typeface="Calibri"/>
              </a:defRPr>
            </a:pPr>
            <a:r>
              <a:t>  4: AISC 360-22 Connections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AAAA"/>
                </a:solidFill>
                <a:latin typeface="Calibri"/>
              </a:defRPr>
            </a:pPr>
            <a:r>
              <a:t>  5: Monte Carlo (16 scenarios)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AAAA"/>
                </a:solidFill>
                <a:latin typeface="Calibri"/>
              </a:defRPr>
            </a:pPr>
            <a:r>
              <a:t>  6: Validation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AAAA"/>
                </a:solidFill>
                <a:latin typeface="Calibri"/>
              </a:defRPr>
            </a:pPr>
            <a:r>
              <a:t>  10: 1978 vs Modern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AAAA"/>
                </a:solidFill>
                <a:latin typeface="Calibri"/>
              </a:defRPr>
            </a:pPr>
            <a:r>
              <a:t>  11: Provenance</a:t>
            </a:r>
          </a:p>
        </p:txBody>
      </p:sp>
      <p:pic>
        <p:nvPicPr>
          <p:cNvPr id="5" name="Picture 4" descr="01_build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713232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Sources: NIST (2021), Morgenstern (1995), ASCE 7-22, AISC 360-22  |  Base MATLAB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Structural Analysis: FEA &amp; Connection Capacity</a:t>
            </a:r>
          </a:p>
        </p:txBody>
      </p:sp>
      <p:pic>
        <p:nvPicPr>
          <p:cNvPr id="3" name="Picture 2" descr="03_fea_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5852160" cy="3840480"/>
          </a:xfrm>
          <a:prstGeom prst="rect">
            <a:avLst/>
          </a:prstGeom>
        </p:spPr>
      </p:pic>
      <p:pic>
        <p:nvPicPr>
          <p:cNvPr id="4" name="Picture 3" descr="04_conne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77240"/>
            <a:ext cx="585216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75488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3CCFF"/>
                </a:solidFill>
                <a:latin typeface="Calibri"/>
              </a:defRPr>
            </a:pPr>
            <a:r>
              <a:t>Key Results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FEA: 80 nodes, 264 elements, equilibrium error = 4.8e-15 (PASS)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Max displacement: 12.3 in (perp.), 4.6 in (quartering) | Drift: H/890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FEA quartering amplification: 0.52x (face wind governs in modern analysis)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Historical quartering amp: 1.40x (LeMessurier 1978, static superposition)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D/C (A325 Bolted, J3-3a): Perp = 0.54 (OK), Quart = 0.24 (OK under modern loads)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D/C (CJP Weld): Perp = 0.31, Quart = 0.16  |  Repaired: Perp = 0.27, Quart = 0.14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16-Scenario Monte Carlo Reliability (2×2×2×2 Factorial)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CC33"/>
                </a:solidFill>
                <a:latin typeface="Calibri"/>
              </a:defRPr>
            </a:pPr>
            <a:r>
              <a:t>Methodology (1970s/Modern) × Connection (Weld/Bolt) × Direction (Perp/Quar) × TMD (ON/OFF)</a:t>
            </a:r>
          </a:p>
        </p:txBody>
      </p:sp>
      <p:pic>
        <p:nvPicPr>
          <p:cNvPr id="4" name="Picture 3" descr="05_monte_car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8872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888888"/>
                </a:solidFill>
                <a:latin typeface="Calibri"/>
              </a:defRPr>
            </a:pPr>
            <a:r>
              <a:t>Critical: Sc.8 (70s-Bolt-Q-off) T=2yr | Sc.7 (70s-Bolt-Q-on) T=19yr | Sc.16 (Mod-Bolt-Q-off) T=21yr | Validation: Sc.8 vs hist T=16yr, Sc.7 vs hist T=55yr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1970s Analysis vs Modern Reassessment</a:t>
            </a:r>
          </a:p>
        </p:txBody>
      </p:sp>
      <p:pic>
        <p:nvPicPr>
          <p:cNvPr id="3" name="Picture 2" descr="10_1978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0"/>
            <a:ext cx="7772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82296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4444"/>
                </a:solidFill>
                <a:latin typeface="Calibri"/>
              </a:defRPr>
            </a:pPr>
            <a:r>
              <a:t>What LeMessurier Believed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8866"/>
                </a:solidFill>
                <a:latin typeface="Calibri"/>
              </a:defRPr>
            </a:pPr>
            <a:r>
              <a:t>(1978 static superposition)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Quartering = 1.40× perpendicular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Full pressure on BOTH faces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Treats loads as perfectly correlated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Bolt D/C &gt;&gt; 1.0 under quartering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T ≈ 16 yr without TMD (crisis)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T ≈ 55 yr with TMD (marginal)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3CC33"/>
                </a:solidFill>
                <a:latin typeface="Calibri"/>
              </a:defRPr>
            </a:pPr>
            <a:r>
              <a:t>What Modern Analysis Shows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FF88"/>
                </a:solidFill>
                <a:latin typeface="Calibri"/>
              </a:defRPr>
            </a:pPr>
            <a:r>
              <a:t>(ASCE 7-22 + NIST 2021)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Quartering = 0.52× perpendicular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Face winds actually govern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Kd = 0.85 reduces all loads by 15%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Static superposition was conservative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But bolts were still under-designed!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  • The real problem: welds → bolts swap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FCC33"/>
                </a:solidFill>
                <a:latin typeface="Calibri"/>
              </a:defRPr>
            </a:pPr>
            <a:r>
              <a:t>Key Takeaway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t>LeMessurier was right to be alarmed, even if the quartering assumption was conservative. The bolt substitution was the root cause regardless of methodology.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Validation, Provenance &amp; Key Findings</a:t>
            </a:r>
          </a:p>
        </p:txBody>
      </p:sp>
      <p:pic>
        <p:nvPicPr>
          <p:cNvPr id="3" name="Picture 2" descr="06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0"/>
            <a:ext cx="5852160" cy="3657600"/>
          </a:xfrm>
          <a:prstGeom prst="rect">
            <a:avLst/>
          </a:prstGeom>
        </p:spPr>
      </p:pic>
      <p:pic>
        <p:nvPicPr>
          <p:cNvPr id="4" name="Picture 3" descr="02_wind_pres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31520"/>
            <a:ext cx="585216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5720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3CCFF"/>
                </a:solidFill>
                <a:latin typeface="Calibri"/>
              </a:defRPr>
            </a:pPr>
            <a:r>
              <a:t>Key Findings for OR 750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FFCC33"/>
                </a:solidFill>
                <a:latin typeface="Calibri"/>
              </a:defRPr>
            </a:pPr>
            <a:r>
              <a:t>  Risk Quantification: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    Full factorial (16 scenarios) reveals that methodology choice dramatically affects perceived risk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FFCC33"/>
                </a:solidFill>
                <a:latin typeface="Calibri"/>
              </a:defRPr>
            </a:pPr>
            <a:r>
              <a:t>  Actual vs Perceived: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    1970s analysis overestimates quartering risk; modern analysis shows face winds govern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FFCC33"/>
                </a:solidFill>
                <a:latin typeface="Calibri"/>
              </a:defRPr>
            </a:pPr>
            <a:r>
              <a:t>  Root Cause: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    Weld-to-bolt substitution created under-designed connections regardless of wind direction methodology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FFCC33"/>
                </a:solidFill>
                <a:latin typeface="Calibri"/>
              </a:defRPr>
            </a:pPr>
            <a:r>
              <a:t>  TMD Importance: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    TMD provides significant risk reduction across all scenarios (damping 1% → 8%)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FFCC33"/>
                </a:solidFill>
                <a:latin typeface="Calibri"/>
              </a:defRPr>
            </a:pPr>
            <a:r>
              <a:t>  No Circular Reasoning: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    Gumbel from ASCE 7 wind map; failure thresholds from FEA+capacity; historical values for validation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57200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3CCFF"/>
                </a:solidFill>
                <a:latin typeface="Calibri"/>
              </a:defRPr>
            </a:pPr>
            <a:r>
              <a:t>Data Provenance Categories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33CC33"/>
                </a:solidFill>
                <a:latin typeface="Calibri"/>
              </a:rPr>
              <a:t>█ SOURCED </a:t>
            </a:r>
            <a:r>
              <a:rPr sz="900">
                <a:solidFill>
                  <a:srgbClr val="DDDDDD"/>
                </a:solidFill>
                <a:latin typeface="Calibri"/>
              </a:rPr>
              <a:t>Published standards/references (ASCE 7-22, AISC 360-22)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3399FF"/>
                </a:solidFill>
                <a:latin typeface="Calibri"/>
              </a:rPr>
              <a:t>█ STANDARD </a:t>
            </a:r>
            <a:r>
              <a:rPr sz="900">
                <a:solidFill>
                  <a:srgbClr val="DDDDDD"/>
                </a:solidFill>
                <a:latin typeface="Calibri"/>
              </a:rPr>
              <a:t>Code-prescribed values (Kd, Cp, bolt capacities)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FFCC33"/>
                </a:solidFill>
                <a:latin typeface="Calibri"/>
              </a:rPr>
              <a:t>█ ASSUMED </a:t>
            </a:r>
            <a:r>
              <a:rPr sz="900">
                <a:solidFill>
                  <a:srgbClr val="DDDDDD"/>
                </a:solidFill>
                <a:latin typeface="Calibri"/>
              </a:rPr>
              <a:t>Engineering estimates (sections, damping ratios)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FF66CC"/>
                </a:solidFill>
                <a:latin typeface="Calibri"/>
              </a:rPr>
              <a:t>█ DERIVED </a:t>
            </a:r>
            <a:r>
              <a:rPr sz="900">
                <a:solidFill>
                  <a:srgbClr val="DDDDDD"/>
                </a:solidFill>
                <a:latin typeface="Calibri"/>
              </a:rPr>
              <a:t>Computed in this simulation (quartering amp, T_return)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FFFFFF"/>
                </a:solidFill>
                <a:latin typeface="Calibri"/>
              </a:rPr>
              <a:t>█ VALIDATED </a:t>
            </a:r>
            <a:r>
              <a:rPr sz="900">
                <a:solidFill>
                  <a:srgbClr val="DDDDDD"/>
                </a:solidFill>
                <a:latin typeface="Calibri"/>
              </a:rPr>
              <a:t>Compared to independent data (LeMessurier, NIST)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Refs: ASCE 7-22, AISC 360-22, NIST (2021), Morgenstern (1995)  |  Generated with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