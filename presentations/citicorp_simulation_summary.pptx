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Citicorp Center Wind Loading Crisis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Calibri"/>
              </a:defRPr>
            </a:pPr>
            <a:r>
              <a:t>OR 750: Reliability, Safety, and Risk  |  George Mason University  |  ASCE 7-22 / AISC 360-22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33CCFF"/>
                </a:solidFill>
                <a:latin typeface="Calibri"/>
              </a:defRPr>
            </a:pPr>
            <a:r>
              <a:t>Building Parameters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Height: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915 ft (279 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Plan: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157 x 157 ft (square)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Stories: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59 (50 above stilts)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Stilt Height: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114 ft (9 stories)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Column Placement: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Mid-face (NOT corners)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Corner Cantilever: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72 ft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Total Steel: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24,000 short tons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Fundamental Period: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6.5 sec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AACCFF"/>
                </a:solidFill>
                <a:latin typeface="Calibri"/>
              </a:defRPr>
            </a:pPr>
            <a:r>
              <a:t>  TMD Mass: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  400 tons (floor 63)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33CCFF"/>
                </a:solidFill>
                <a:latin typeface="Calibri"/>
              </a:defRPr>
            </a:pPr>
            <a:r>
              <a:t>Structural System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CC33"/>
                </a:solidFill>
                <a:latin typeface="Calibri"/>
              </a:defRPr>
            </a:pPr>
            <a:r>
              <a:t>Unique Design: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4 columns at face midpoints (not corners)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St. Peter's Church below SW corner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72 ft cantilevers at all corners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6 tiers of chevron (V) bracing (48 braces)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2-story W-pattern transfer truss at stilt top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400-ton tuned mass damper (TMD)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4444"/>
                </a:solidFill>
                <a:latin typeface="Calibri"/>
              </a:defRPr>
            </a:pPr>
            <a:r>
              <a:t>The Crisis (1978):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Original spec: CJP groove welds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Bethlehem Steel substituted A325 bolts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Bolts sized for perpendicular wind ONLY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Quartering wind check never performed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LeMessurier discovered bolts overstressed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Emergency repair: 2" welded cover 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33CCFF"/>
                </a:solidFill>
                <a:latin typeface="Calibri"/>
              </a:defRPr>
            </a:pPr>
            <a:r>
              <a:t>Simulation Modules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1: 3D Building Visualization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2: ASCE 7-22 Wind Pressure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3: 3D FEA (Direct Stiffness)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4: AISC 360-22 Connections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5: Monte Carlo Reliability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6: Validation Summary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10: 1978 vs Modern Comparison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11: Data Provenance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Module 8-9: CFD Post-Processing (opt.)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CC33"/>
                </a:solidFill>
                <a:latin typeface="Calibri"/>
              </a:defRPr>
            </a:pPr>
            <a:r>
              <a:t>Key Methods: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ASCE 7-22 Ch. 27 (MWFRS)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AISC 360-22 Eq. J3-3a (bolt interaction)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Gumbel Type I (extreme wind)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100,000 Monte Carlo samples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DDDDD"/>
                </a:solidFill>
                <a:latin typeface="Calibri"/>
              </a:defRPr>
            </a:pPr>
            <a:r>
              <a:t>  • No circular reasoning in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Sources: NIST (2021), Morgenstern (1995), ASCE 7-22, AISC 360-22  |  Base MATLAB, no toolboxes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Analysis Results: Derived Failure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C33"/>
                </a:solidFill>
                <a:latin typeface="Calibri"/>
              </a:defRPr>
            </a:pPr>
            <a:r>
              <a:t>All failure thresholds DERIVED from FEA + bolt capacity (not from historical data)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7772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109728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V_fail</a:t>
                      </a:r>
                    </a:p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(mph)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P_f</a:t>
                      </a:r>
                    </a:p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(annual)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T_return</a:t>
                      </a:r>
                    </a:p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(years)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Reliability</a:t>
                      </a:r>
                    </a:p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Index β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Historical</a:t>
                      </a:r>
                    </a:p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(LeMessurier)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1: Welded (perp.)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7.5e-5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13,333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3.79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CC33"/>
                          </a:solidFill>
                          <a:latin typeface="Calibri"/>
                        </a:defRPr>
                      </a:pPr>
                      <a:r>
                        <a:t>2: Bolted (perp. only)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1.3e-2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CC33"/>
                          </a:solidFill>
                          <a:latin typeface="Calibri"/>
                        </a:defRPr>
                      </a:pPr>
                      <a:r>
                        <a:t>2.23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4444"/>
                          </a:solidFill>
                          <a:latin typeface="Calibri"/>
                        </a:defRPr>
                      </a:pPr>
                      <a:r>
                        <a:t>3: Bolted, quart., NO TMD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4.8e-2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4444"/>
                          </a:solidFill>
                          <a:latin typeface="Calibri"/>
                        </a:defRPr>
                      </a:pPr>
                      <a:r>
                        <a:t>1.67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70 mph / 16 yr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4: Bolted, quart., WITH TMD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7.6e-4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1,318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3.17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85 mph / 55 yr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5661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CCFF"/>
                </a:solidFill>
                <a:latin typeface="Calibri"/>
              </a:defRPr>
            </a:pPr>
            <a:r>
              <a:t>FEA &amp; Connection Results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Nodes / Elements: </a:t>
            </a:r>
            <a:r>
              <a:rPr sz="1000">
                <a:solidFill>
                  <a:srgbClr val="DDDDDD"/>
                </a:solidFill>
                <a:latin typeface="Calibri"/>
              </a:rPr>
              <a:t>80 / 264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Max Disp. (perp.): </a:t>
            </a:r>
            <a:r>
              <a:rPr sz="1000">
                <a:solidFill>
                  <a:srgbClr val="DDDDDD"/>
                </a:solidFill>
                <a:latin typeface="Calibri"/>
              </a:rPr>
              <a:t>12.3 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Max Disp. (quart.): </a:t>
            </a:r>
            <a:r>
              <a:rPr sz="1000">
                <a:solidFill>
                  <a:srgbClr val="DDDDDD"/>
                </a:solidFill>
                <a:latin typeface="Calibri"/>
              </a:rPr>
              <a:t>4.6 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Drift Ratio: </a:t>
            </a:r>
            <a:r>
              <a:rPr sz="1000">
                <a:solidFill>
                  <a:srgbClr val="DDDDDD"/>
                </a:solidFill>
                <a:latin typeface="Calibri"/>
              </a:rPr>
              <a:t>H/890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Equilibrium Error: </a:t>
            </a:r>
            <a:r>
              <a:rPr sz="1000">
                <a:solidFill>
                  <a:srgbClr val="DDDDDD"/>
                </a:solidFill>
                <a:latin typeface="Calibri"/>
              </a:rPr>
              <a:t>4.8e-15 (PASS)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Quartering Amp (FEA): </a:t>
            </a:r>
            <a:r>
              <a:rPr sz="1000">
                <a:solidFill>
                  <a:srgbClr val="DDDDDD"/>
                </a:solidFill>
                <a:latin typeface="Calibri"/>
              </a:rPr>
              <a:t>0.52x (&lt; 1.0)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Historical Amp: </a:t>
            </a:r>
            <a:r>
              <a:rPr sz="1000">
                <a:solidFill>
                  <a:srgbClr val="DDDDDD"/>
                </a:solidFill>
                <a:latin typeface="Calibri"/>
              </a:rPr>
              <a:t>1.40x (static superposition)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DDDDD"/>
                </a:solidFill>
                <a:latin typeface="Calibri"/>
              </a:defRPr>
            </a:pPr>
            <a:r>
              <a:rPr sz="1000" b="1">
                <a:solidFill>
                  <a:srgbClr val="AACCFF"/>
                </a:solidFill>
                <a:latin typeface="Calibri"/>
              </a:rPr>
              <a:t>  NIST 2021 Finding: </a:t>
            </a:r>
            <a:r>
              <a:rPr sz="1000">
                <a:solidFill>
                  <a:srgbClr val="DDDDDD"/>
                </a:solidFill>
                <a:latin typeface="Calibri"/>
              </a:rPr>
              <a:t>Face winds govern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CCFF"/>
                </a:solidFill>
                <a:latin typeface="Calibri"/>
              </a:defRPr>
            </a:pPr>
            <a:r>
              <a:t>D/C Ratios (AISC J3-3a)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0" y="4023360"/>
          <a:ext cx="3840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Connection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Perp.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FF"/>
                          </a:solidFill>
                          <a:latin typeface="Calibri"/>
                        </a:defRPr>
                      </a:pPr>
                      <a:r>
                        <a:t>Quart. (FEA)</a:t>
                      </a:r>
                    </a:p>
                  </a:txBody>
                  <a:tcPr anchor="ctr">
                    <a:solidFill>
                      <a:srgbClr val="2A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A325 Bolted (J3-3a)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0.542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0.242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CJP Groove Weld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0.308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0.161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DDDDDD"/>
                          </a:solidFill>
                          <a:latin typeface="Calibri"/>
                        </a:defRPr>
                      </a:pPr>
                      <a:r>
                        <a:t>Repaired (cover plates)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0.268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CC33"/>
                          </a:solidFill>
                          <a:latin typeface="Calibri"/>
                        </a:defRPr>
                      </a:pPr>
                      <a:r>
                        <a:t>0.140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35661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CCFF"/>
                </a:solidFill>
                <a:latin typeface="Calibri"/>
              </a:defRPr>
            </a:pPr>
            <a:r>
              <a:t>Key Findings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DDDDDD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33CC33"/>
                </a:solidFill>
                <a:latin typeface="Calibri"/>
              </a:defRPr>
            </a:pPr>
            <a:r>
              <a:t>  Modern ASCE 7-22: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Quartering &lt; perpendicular (amp=0.52). Face winds govern. Consistent with NIST 2021.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FF4444"/>
                </a:solidFill>
                <a:latin typeface="Calibri"/>
              </a:defRPr>
            </a:pPr>
            <a:r>
              <a:t>  1978 Static Super.: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Quartering = 1.40x perpendicular. Overly conservative (static sum of correlated loads).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FFCC33"/>
                </a:solidFill>
                <a:latin typeface="Calibri"/>
              </a:defRPr>
            </a:pPr>
            <a:r>
              <a:t>  Bolt Crisis: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Real issue was bolts vs welds, regardless of wind angle. Bolts had insufficient capacity for any demanding scenario.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FF66CC"/>
                </a:solidFill>
                <a:latin typeface="Calibri"/>
              </a:defRPr>
            </a:pPr>
            <a:r>
              <a:t>  No Circular Logic: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DDDDD"/>
                </a:solidFill>
                <a:latin typeface="Calibri"/>
              </a:defRPr>
            </a:pPr>
            <a:r>
              <a:t>    Gumbel calibrated from ASCE 7 wind map. Failure V derived from FEA+bolts. Historical values for VALIDATION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Gumbel: μ=44.1, β=14.3 mph (from V₅₀=100, V₁₀₀=110)  |  100,000 MC samples  |  FEA: 3D beam elements, direct stiffness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